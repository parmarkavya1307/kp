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6784975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263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94100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" y="0"/>
            <a:ext cx="6784848" cy="9601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9098280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162288"/>
            <a:ext cx="55778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F6B77"/>
                </a:solidFill>
                <a:latin typeface="Arial"/>
              </a:rPr>
              <a:t>Car Rental System • DBMS Project                                    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5577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23456"/>
                </a:solidFill>
                <a:latin typeface="Arial"/>
              </a:rPr>
              <a:t>CAR RENTAL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08760"/>
            <a:ext cx="55321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B77"/>
                </a:solidFill>
                <a:latin typeface="Arial"/>
              </a:rPr>
              <a:t>Database Management System (DBMS)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19656"/>
            <a:ext cx="960120" cy="41148"/>
          </a:xfrm>
          <a:prstGeom prst="rect">
            <a:avLst/>
          </a:prstGeom>
          <a:solidFill>
            <a:srgbClr val="1C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2212848"/>
            <a:ext cx="5468112" cy="2148840"/>
          </a:xfrm>
          <a:prstGeom prst="roundRect">
            <a:avLst/>
          </a:prstGeom>
          <a:solidFill>
            <a:srgbClr val="F4F8FB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50292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C8287"/>
                </a:solidFill>
                <a:latin typeface="Arial"/>
              </a:rP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4846320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23456"/>
                </a:solidFill>
                <a:latin typeface="Arial"/>
              </a:rPr>
              <a:t>A MySQL database to manage vehicles, customers, rentals and payments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4663440"/>
            <a:ext cx="5532120" cy="2240280"/>
          </a:xfrm>
          <a:prstGeom prst="roundRect">
            <a:avLst/>
          </a:prstGeom>
          <a:solidFill>
            <a:srgbClr val="EBF3F9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4773168"/>
            <a:ext cx="521208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PROJECT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056631"/>
            <a:ext cx="5193792" cy="18733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2B343D"/>
                </a:solidFill>
                <a:latin typeface="Arial"/>
              </a:rPr>
              <a:t>Group Number: [</a:t>
            </a:r>
            <a:r>
              <a:rPr lang="en-US" sz="1200" dirty="0">
                <a:solidFill>
                  <a:srgbClr val="2B343D"/>
                </a:solidFill>
                <a:latin typeface="Arial"/>
              </a:rPr>
              <a:t>16]</a:t>
            </a:r>
            <a:endParaRPr sz="1200" b="0" dirty="0">
              <a:solidFill>
                <a:srgbClr val="2B343D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2B343D"/>
                </a:solidFill>
                <a:latin typeface="Arial"/>
              </a:rPr>
              <a:t>Team Members:</a:t>
            </a:r>
            <a:endParaRPr lang="en-US" sz="1200" b="0" dirty="0">
              <a:solidFill>
                <a:srgbClr val="2B343D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200" b="0" dirty="0">
                <a:solidFill>
                  <a:srgbClr val="2B343D"/>
                </a:solidFill>
                <a:latin typeface="Arial"/>
              </a:rPr>
              <a:t>[Akbari Kaushal</a:t>
            </a:r>
            <a:r>
              <a:rPr sz="1200" b="0" dirty="0">
                <a:solidFill>
                  <a:srgbClr val="2B343D"/>
                </a:solidFill>
                <a:latin typeface="Arial"/>
              </a:rPr>
              <a:t> —</a:t>
            </a:r>
            <a:r>
              <a:rPr lang="en-US" sz="1200" b="0" dirty="0">
                <a:solidFill>
                  <a:srgbClr val="2B343D"/>
                </a:solidFill>
                <a:latin typeface="Arial"/>
              </a:rPr>
              <a:t>12502080601050</a:t>
            </a:r>
            <a:r>
              <a:rPr sz="1200" b="0" dirty="0">
                <a:solidFill>
                  <a:srgbClr val="2B343D"/>
                </a:solidFill>
                <a:latin typeface="Arial"/>
              </a:rPr>
              <a:t>]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2B343D"/>
                </a:solidFill>
                <a:latin typeface="Arial"/>
              </a:rPr>
              <a:t>[</a:t>
            </a:r>
            <a:r>
              <a:rPr lang="en-US" sz="1200" dirty="0">
                <a:solidFill>
                  <a:srgbClr val="2B343D"/>
                </a:solidFill>
                <a:latin typeface="Arial"/>
              </a:rPr>
              <a:t>Parmar Kavya</a:t>
            </a:r>
            <a:r>
              <a:rPr sz="1200" b="0" dirty="0">
                <a:solidFill>
                  <a:srgbClr val="2B343D"/>
                </a:solidFill>
                <a:latin typeface="Arial"/>
              </a:rPr>
              <a:t>— </a:t>
            </a:r>
            <a:r>
              <a:rPr lang="en-US" sz="1200" b="0" dirty="0">
                <a:solidFill>
                  <a:srgbClr val="2B343D"/>
                </a:solidFill>
                <a:latin typeface="Arial"/>
              </a:rPr>
              <a:t>122502080601051</a:t>
            </a:r>
            <a:r>
              <a:rPr sz="1200" b="0" dirty="0">
                <a:solidFill>
                  <a:srgbClr val="2B343D"/>
                </a:solidFill>
                <a:latin typeface="Arial"/>
              </a:rPr>
              <a:t>]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2B343D"/>
                </a:solidFill>
                <a:latin typeface="Arial"/>
              </a:rPr>
              <a:t>[</a:t>
            </a:r>
            <a:r>
              <a:rPr lang="en-US" sz="1200" b="0" dirty="0">
                <a:solidFill>
                  <a:srgbClr val="2B343D"/>
                </a:solidFill>
                <a:latin typeface="Arial"/>
              </a:rPr>
              <a:t>Prajapati </a:t>
            </a:r>
            <a:r>
              <a:rPr lang="en-US" sz="1200" b="0" dirty="0" err="1">
                <a:solidFill>
                  <a:srgbClr val="2B343D"/>
                </a:solidFill>
                <a:latin typeface="Arial"/>
              </a:rPr>
              <a:t>Foram</a:t>
            </a:r>
            <a:r>
              <a:rPr sz="1200" b="0" dirty="0">
                <a:solidFill>
                  <a:srgbClr val="2B343D"/>
                </a:solidFill>
                <a:latin typeface="Arial"/>
              </a:rPr>
              <a:t>— </a:t>
            </a:r>
            <a:r>
              <a:rPr lang="en-US" sz="1200" b="0" dirty="0">
                <a:solidFill>
                  <a:srgbClr val="2B343D"/>
                </a:solidFill>
                <a:latin typeface="Arial"/>
              </a:rPr>
              <a:t>12502080601032</a:t>
            </a:r>
            <a:r>
              <a:rPr sz="1200" b="0" dirty="0">
                <a:solidFill>
                  <a:srgbClr val="2B343D"/>
                </a:solidFill>
                <a:latin typeface="Arial"/>
              </a:rPr>
              <a:t>]</a:t>
            </a:r>
            <a:endParaRPr lang="en-US" sz="1200" b="0" dirty="0">
              <a:solidFill>
                <a:srgbClr val="2B343D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IN" sz="1200" b="0">
                <a:solidFill>
                  <a:srgbClr val="2B343D"/>
                </a:solidFill>
                <a:latin typeface="Arial"/>
              </a:rPr>
              <a:t>[Prajapati </a:t>
            </a:r>
            <a:r>
              <a:rPr lang="en-IN" sz="1200" b="0" dirty="0">
                <a:solidFill>
                  <a:srgbClr val="2B343D"/>
                </a:solidFill>
                <a:latin typeface="Arial"/>
              </a:rPr>
              <a:t>Drashti--- 12502080601028]</a:t>
            </a:r>
            <a:endParaRPr sz="1200" b="0" dirty="0">
              <a:solidFill>
                <a:srgbClr val="2B343D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2B343D"/>
                </a:solidFill>
                <a:latin typeface="Arial"/>
              </a:rPr>
              <a:t>Submitted to: [</a:t>
            </a:r>
            <a:r>
              <a:rPr lang="en-US" sz="1200" dirty="0">
                <a:solidFill>
                  <a:srgbClr val="2B343D"/>
                </a:solidFill>
                <a:latin typeface="Arial"/>
              </a:rPr>
              <a:t>Yamini Dubey</a:t>
            </a:r>
            <a:r>
              <a:rPr sz="1200" b="0" dirty="0">
                <a:solidFill>
                  <a:srgbClr val="2B343D"/>
                </a:solidFill>
                <a:latin typeface="Arial"/>
              </a:rPr>
              <a:t>]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2B343D"/>
                </a:solidFill>
                <a:latin typeface="Arial"/>
              </a:rPr>
              <a:t>Department: Information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7315200"/>
            <a:ext cx="52120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23456"/>
                </a:solidFill>
                <a:latin typeface="Arial"/>
              </a:rPr>
              <a:t>AD PATEL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94100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84848" cy="9601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9098280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162288"/>
            <a:ext cx="55778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F6B77"/>
                </a:solidFill>
                <a:latin typeface="Arial"/>
              </a:rPr>
              <a:t>Car Rental System • DBMS Project                                   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5577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23456"/>
                </a:solidFill>
                <a:latin typeface="Arial"/>
              </a:rPr>
              <a:t>Problem Statement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08760"/>
            <a:ext cx="55321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B77"/>
                </a:solidFill>
                <a:latin typeface="Arial"/>
              </a:rPr>
              <a:t>Why a structured rental database is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19656"/>
            <a:ext cx="960120" cy="41148"/>
          </a:xfrm>
          <a:prstGeom prst="rect">
            <a:avLst/>
          </a:prstGeom>
          <a:solidFill>
            <a:srgbClr val="1C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2057400"/>
            <a:ext cx="5532120" cy="2331720"/>
          </a:xfrm>
          <a:prstGeom prst="roundRect">
            <a:avLst/>
          </a:prstGeom>
          <a:solidFill>
            <a:srgbClr val="EBF3F9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167128"/>
            <a:ext cx="521208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EXISTING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50592"/>
            <a:ext cx="5193792" cy="18745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Vehicle availability may be tracked manually.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Customer, rental and payment records can become inconsistent.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Manual duration and cost calculations can cause errors.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Return and payment status are difficult to review quickly.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4617720"/>
            <a:ext cx="5532120" cy="2240280"/>
          </a:xfrm>
          <a:prstGeom prst="roundRect">
            <a:avLst/>
          </a:prstGeom>
          <a:solidFill>
            <a:srgbClr val="EBF3F9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4727448"/>
            <a:ext cx="521208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010912"/>
            <a:ext cx="5193792" cy="1783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Store information centrally in MySQL.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Link customers, vehicles, rentals and payments using keys.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Use SQL queries to find available vehicles and calculate rental costs.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Maintain rental and payment status for easier tracking.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7223760"/>
            <a:ext cx="52120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C8287"/>
                </a:solidFill>
                <a:latin typeface="Arial"/>
              </a:rPr>
              <a:t>Goal: accurate, organized and easy-to-query rental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94100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84848" cy="9601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9098280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162288"/>
            <a:ext cx="55778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F6B77"/>
                </a:solidFill>
                <a:latin typeface="Arial"/>
              </a:rPr>
              <a:t>Car Rental System • DBMS Project                                   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5577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23456"/>
                </a:solidFill>
                <a:latin typeface="Arial"/>
              </a:rPr>
              <a:t>Objectives &amp;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08760"/>
            <a:ext cx="55321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B77"/>
                </a:solidFill>
                <a:latin typeface="Arial"/>
              </a:rPr>
              <a:t>Project scope and prerequisites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19656"/>
            <a:ext cx="960120" cy="41148"/>
          </a:xfrm>
          <a:prstGeom prst="rect">
            <a:avLst/>
          </a:prstGeom>
          <a:solidFill>
            <a:srgbClr val="1C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2057400"/>
            <a:ext cx="5532120" cy="2743200"/>
          </a:xfrm>
          <a:prstGeom prst="roundRect">
            <a:avLst/>
          </a:prstGeom>
          <a:solidFill>
            <a:srgbClr val="EBF3F9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167128"/>
            <a:ext cx="521208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50592"/>
            <a:ext cx="5193792" cy="2286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Maintain vehicle and customer records.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Record rental date, expected return and actual return.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Calculate duration-based rental cost.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Store payment amount, method and status.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Connect records using primary and foreign keys.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5029200"/>
            <a:ext cx="5532120" cy="1828800"/>
          </a:xfrm>
          <a:prstGeom prst="roundRect">
            <a:avLst/>
          </a:prstGeom>
          <a:solidFill>
            <a:srgbClr val="EBF3F9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5138928"/>
            <a:ext cx="521208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422392"/>
            <a:ext cx="5193792" cy="1371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B343D"/>
                </a:solidFill>
                <a:latin typeface="Arial"/>
              </a:rPr>
              <a:t>Software: MySQL Server and MySQL Workbench.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B343D"/>
                </a:solidFill>
                <a:latin typeface="Arial"/>
              </a:rPr>
              <a:t>Database: CarRentalDB.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B343D"/>
                </a:solidFill>
                <a:latin typeface="Arial"/>
              </a:rPr>
              <a:t>Tables: Vehicles, Customers, Rentals, Payments.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B343D"/>
                </a:solidFill>
                <a:latin typeface="Arial"/>
              </a:rPr>
              <a:t>Hardware: laptop/desktop with sufficient storage and memory.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B343D"/>
                </a:solidFill>
                <a:latin typeface="Arial"/>
              </a:rPr>
              <a:t>Interface: SQL Editor in MySQL Workbench; a separate GUI is not included.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94100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84848" cy="9601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9098280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162288"/>
            <a:ext cx="55778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F6B77"/>
                </a:solidFill>
                <a:latin typeface="Arial"/>
              </a:rPr>
              <a:t>Car Rental System • DBMS Project                                    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5577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23456"/>
                </a:solidFill>
                <a:latin typeface="Arial"/>
              </a:rPr>
              <a:t>System Architecture / Flowchart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08760"/>
            <a:ext cx="55321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B77"/>
                </a:solidFill>
                <a:latin typeface="Arial"/>
              </a:rPr>
              <a:t>High-level process used in the current database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19656"/>
            <a:ext cx="960120" cy="41148"/>
          </a:xfrm>
          <a:prstGeom prst="rect">
            <a:avLst/>
          </a:prstGeom>
          <a:solidFill>
            <a:srgbClr val="1C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4983480" cy="91440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258568"/>
            <a:ext cx="457200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1. USER /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45262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43D"/>
                </a:solidFill>
                <a:latin typeface="Arial"/>
              </a:rPr>
              <a:t>Chooses an operation: add, view, rent, return or check payment.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07238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C8287"/>
                </a:solidFill>
                <a:latin typeface="Arial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64408"/>
            <a:ext cx="4983480" cy="91440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374136"/>
            <a:ext cx="457200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2. SQL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30168"/>
            <a:ext cx="45262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43D"/>
                </a:solidFill>
                <a:latin typeface="Arial"/>
              </a:rPr>
              <a:t>SELECT, INSERT and UPDATE statements apply the required database operation.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1879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C8287"/>
                </a:solidFill>
                <a:latin typeface="Arial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79976"/>
            <a:ext cx="4983480" cy="91440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489704"/>
            <a:ext cx="457200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3. MYSQL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745736"/>
            <a:ext cx="45262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43D"/>
                </a:solidFill>
                <a:latin typeface="Arial"/>
              </a:rPr>
              <a:t>CarRentalDB stores Vehicles, Customers, Rentals and Payments.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53035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C8287"/>
                </a:solidFill>
                <a:latin typeface="Arial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495544"/>
            <a:ext cx="4983480" cy="91440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605272"/>
            <a:ext cx="457200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4. RESULT /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861304"/>
            <a:ext cx="45262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43D"/>
                </a:solidFill>
                <a:latin typeface="Arial"/>
              </a:rPr>
              <a:t>Workbench displays table rows, availability, rental costs and payment status.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812280"/>
            <a:ext cx="507492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F6B77"/>
                </a:solidFill>
                <a:latin typeface="Arial"/>
              </a:rPr>
              <a:t>Current implementation: MySQL Workbench is the interface; no separate frontend/backend is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94100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84848" cy="9601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9098280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162288"/>
            <a:ext cx="55778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F6B77"/>
                </a:solidFill>
                <a:latin typeface="Arial"/>
              </a:rPr>
              <a:t>Car Rental System • DBMS Project                                    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5577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23456"/>
                </a:solidFill>
                <a:latin typeface="Arial"/>
              </a:rPr>
              <a:t>Entity–Relationship (ER)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08760"/>
            <a:ext cx="55321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B77"/>
                </a:solidFill>
                <a:latin typeface="Arial"/>
              </a:rPr>
              <a:t>Primary keys and relationship cardinalities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19656"/>
            <a:ext cx="960120" cy="41148"/>
          </a:xfrm>
          <a:prstGeom prst="rect">
            <a:avLst/>
          </a:prstGeom>
          <a:solidFill>
            <a:srgbClr val="1C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2423160" cy="132588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221992"/>
            <a:ext cx="2276856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VEHICLES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96312"/>
            <a:ext cx="2203704" cy="932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PK vehicle_id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registration_no (UNIQUE)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brand, model, daily_rate,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148840"/>
            <a:ext cx="2423160" cy="132588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30752" y="2221992"/>
            <a:ext cx="2276856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496312"/>
            <a:ext cx="2203704" cy="932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PK customer_id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full_name, phone, email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license_no (UNIQUE)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4251960"/>
            <a:ext cx="2514600" cy="150876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67712" y="4325112"/>
            <a:ext cx="2368296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RENTALS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4599432"/>
            <a:ext cx="2295144" cy="11155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PK rental_id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FK customer_id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FK vehicle_id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rental_date, expected_return,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actual_return, total_cost,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6492240"/>
            <a:ext cx="2514600" cy="114300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67712" y="6565392"/>
            <a:ext cx="2368296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6839712"/>
            <a:ext cx="2295144" cy="7498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PK payment_id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FK rental_id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amount, payment_date,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2B343D"/>
                </a:solidFill>
                <a:latin typeface="Arial"/>
              </a:rPr>
              <a:t>payment_method, payment_status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C8287"/>
                </a:solidFill>
                <a:latin typeface="Arial"/>
              </a:rPr>
              <a:t>1 :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65760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C8287"/>
                </a:solidFill>
                <a:latin typeface="Arial"/>
              </a:rPr>
              <a:t>1 :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5916168"/>
            <a:ext cx="1280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C8287"/>
                </a:solidFill>
                <a:latin typeface="Arial"/>
              </a:rPr>
              <a:t>1 :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7973568"/>
            <a:ext cx="5303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F6B77"/>
                </a:solidFill>
                <a:latin typeface="Arial"/>
              </a:rPr>
              <a:t>One customer can have many rentals over time. One vehicle can be used in many rentals over time. Each rental can have one or more payment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94100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84848" cy="9601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9098280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162288"/>
            <a:ext cx="55778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F6B77"/>
                </a:solidFill>
                <a:latin typeface="Arial"/>
              </a:rPr>
              <a:t>Car Rental System • DBMS Project                                    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5577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23456"/>
                </a:solidFill>
                <a:latin typeface="Arial"/>
              </a:rPr>
              <a:t>Relational Schema &amp; Normalization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08760"/>
            <a:ext cx="55321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B77"/>
                </a:solidFill>
                <a:latin typeface="Arial"/>
              </a:rPr>
              <a:t>Tables, foreign keys and 3NF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19656"/>
            <a:ext cx="960120" cy="41148"/>
          </a:xfrm>
          <a:prstGeom prst="rect">
            <a:avLst/>
          </a:prstGeom>
          <a:solidFill>
            <a:srgbClr val="1C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2057400"/>
            <a:ext cx="5532120" cy="3886200"/>
          </a:xfrm>
          <a:prstGeom prst="roundRect">
            <a:avLst/>
          </a:prstGeom>
          <a:solidFill>
            <a:srgbClr val="EBF3F9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167128"/>
            <a:ext cx="521208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RELATIONAL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50592"/>
            <a:ext cx="5193792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B343D"/>
                </a:solidFill>
                <a:latin typeface="Arial"/>
              </a:rPr>
              <a:t>Vehicles(vehicle_id PK, registration_no UNIQUE, brand, model, daily_rate, status)</a:t>
            </a:r>
          </a:p>
          <a:p>
            <a:pPr algn="l">
              <a:spcAft>
                <a:spcPts val="400"/>
              </a:spcAft>
            </a:pPr>
            <a:endParaRPr sz="1050" b="0">
              <a:solidFill>
                <a:srgbClr val="2B343D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B343D"/>
                </a:solidFill>
                <a:latin typeface="Arial"/>
              </a:rPr>
              <a:t>Customers(customer_id PK, full_name, phone, email, license_no UNIQUE)</a:t>
            </a:r>
          </a:p>
          <a:p>
            <a:pPr algn="l">
              <a:spcAft>
                <a:spcPts val="400"/>
              </a:spcAft>
            </a:pPr>
            <a:endParaRPr sz="1050" b="0">
              <a:solidFill>
                <a:srgbClr val="2B343D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B343D"/>
                </a:solidFill>
                <a:latin typeface="Arial"/>
              </a:rPr>
              <a:t>Rentals(rental_id PK, customer_id FK, vehicle_id FK, rental_date, expected_return, actual_return, total_cost, status)</a:t>
            </a:r>
          </a:p>
          <a:p>
            <a:pPr algn="l">
              <a:spcAft>
                <a:spcPts val="400"/>
              </a:spcAft>
            </a:pPr>
            <a:endParaRPr sz="1050" b="0">
              <a:solidFill>
                <a:srgbClr val="2B343D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B343D"/>
                </a:solidFill>
                <a:latin typeface="Arial"/>
              </a:rPr>
              <a:t>Payments(payment_id PK, rental_id FK, amount, payment_date, payment_method, payment_status)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6172200"/>
            <a:ext cx="5532120" cy="1508760"/>
          </a:xfrm>
          <a:prstGeom prst="roundRect">
            <a:avLst/>
          </a:prstGeom>
          <a:solidFill>
            <a:srgbClr val="EBF3F9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6281928"/>
            <a:ext cx="521208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NORMALIZATION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6565392"/>
            <a:ext cx="5193792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B343D"/>
                </a:solidFill>
                <a:latin typeface="Arial"/>
              </a:rPr>
              <a:t>1NF: fields contain single/atomic values.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B343D"/>
                </a:solidFill>
                <a:latin typeface="Arial"/>
              </a:rPr>
              <a:t>2NF: each table has a single-column primary key; non-key fields depend on that key.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B343D"/>
                </a:solidFill>
                <a:latin typeface="Arial"/>
              </a:rPr>
              <a:t>3NF: vehicle, customer, rental and payment details are separated to avoid storing unrelated facts together.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94100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84848" cy="9601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9098280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162288"/>
            <a:ext cx="55778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F6B77"/>
                </a:solidFill>
                <a:latin typeface="Arial"/>
              </a:rPr>
              <a:t>Car Rental System • DBMS Project                                    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5577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23456"/>
                </a:solidFill>
                <a:latin typeface="Arial"/>
              </a:rPr>
              <a:t>SQL Implementation — Table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08760"/>
            <a:ext cx="55321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B77"/>
                </a:solidFill>
                <a:latin typeface="Arial"/>
              </a:rPr>
              <a:t>DDL examples from the implemented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19656"/>
            <a:ext cx="960120" cy="41148"/>
          </a:xfrm>
          <a:prstGeom prst="rect">
            <a:avLst/>
          </a:prstGeom>
          <a:solidFill>
            <a:srgbClr val="1C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468112" cy="5349240"/>
          </a:xfrm>
          <a:prstGeom prst="roundRect">
            <a:avLst/>
          </a:prstGeom>
          <a:solidFill>
            <a:srgbClr val="F6F8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194560"/>
            <a:ext cx="5193792" cy="407021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CREATE TABLE Vehicles (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</a:t>
            </a:r>
            <a:r>
              <a:rPr sz="919" b="0" dirty="0" err="1">
                <a:solidFill>
                  <a:srgbClr val="2B343D"/>
                </a:solidFill>
                <a:latin typeface="Consolas"/>
              </a:rPr>
              <a:t>vehicle_id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 I AUTO_INCREMENT PRIMARY KEY,</a:t>
            </a:r>
          </a:p>
          <a:p>
            <a:pPr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</a:t>
            </a:r>
            <a:r>
              <a:rPr sz="919" b="0" dirty="0" err="1">
                <a:solidFill>
                  <a:srgbClr val="2B343D"/>
                </a:solidFill>
                <a:latin typeface="Consolas"/>
              </a:rPr>
              <a:t>registration_no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 VARC</a:t>
            </a:r>
            <a:r>
              <a:rPr lang="en-IN" sz="919" dirty="0">
                <a:solidFill>
                  <a:srgbClr val="2B343D"/>
                </a:solidFill>
                <a:latin typeface="Consolas"/>
              </a:rPr>
              <a:t>NT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HAR(20) UNIQUE NOT NULL,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brand VARCHAR(50) NOT NULL,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model VARCHAR(50) NOT NULL,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</a:t>
            </a:r>
            <a:r>
              <a:rPr sz="919" b="0" dirty="0" err="1">
                <a:solidFill>
                  <a:srgbClr val="2B343D"/>
                </a:solidFill>
                <a:latin typeface="Consolas"/>
              </a:rPr>
              <a:t>daily_rate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 DECIMAL(10,2) NOT NULL,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status VARCHAR(20) DEFAULT 'Available'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);</a:t>
            </a:r>
          </a:p>
          <a:p>
            <a:pPr algn="l">
              <a:spcAft>
                <a:spcPts val="400"/>
              </a:spcAft>
            </a:pPr>
            <a:endParaRPr sz="919" b="0" dirty="0">
              <a:solidFill>
                <a:srgbClr val="2B343D"/>
              </a:solidFill>
              <a:latin typeface="Consolas"/>
            </a:endParaRP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CREATE TABLE Rentals (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</a:t>
            </a:r>
            <a:r>
              <a:rPr sz="919" b="0" dirty="0" err="1">
                <a:solidFill>
                  <a:srgbClr val="2B343D"/>
                </a:solidFill>
                <a:latin typeface="Consolas"/>
              </a:rPr>
              <a:t>rental_id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 INT AUTO_INCREMENT PRIMARY KEY,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</a:t>
            </a:r>
            <a:r>
              <a:rPr sz="919" b="0" dirty="0" err="1">
                <a:solidFill>
                  <a:srgbClr val="2B343D"/>
                </a:solidFill>
                <a:latin typeface="Consolas"/>
              </a:rPr>
              <a:t>customer_id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 INT NOT NULL,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</a:t>
            </a:r>
            <a:r>
              <a:rPr sz="919" b="0" dirty="0" err="1">
                <a:solidFill>
                  <a:srgbClr val="2B343D"/>
                </a:solidFill>
                <a:latin typeface="Consolas"/>
              </a:rPr>
              <a:t>vehicle_id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 INT NOT NULL,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</a:t>
            </a:r>
            <a:r>
              <a:rPr sz="919" b="0" dirty="0" err="1">
                <a:solidFill>
                  <a:srgbClr val="2B343D"/>
                </a:solidFill>
                <a:latin typeface="Consolas"/>
              </a:rPr>
              <a:t>rental_date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 DATE NOT NULL,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</a:t>
            </a:r>
            <a:r>
              <a:rPr sz="919" b="0" dirty="0" err="1">
                <a:solidFill>
                  <a:srgbClr val="2B343D"/>
                </a:solidFill>
                <a:latin typeface="Consolas"/>
              </a:rPr>
              <a:t>expected_return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 DATE NOT NULL,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</a:t>
            </a:r>
            <a:r>
              <a:rPr sz="919" b="0" dirty="0" err="1">
                <a:solidFill>
                  <a:srgbClr val="2B343D"/>
                </a:solidFill>
                <a:latin typeface="Consolas"/>
              </a:rPr>
              <a:t>actual_return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 DATE,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</a:t>
            </a:r>
            <a:r>
              <a:rPr sz="919" b="0" dirty="0" err="1">
                <a:solidFill>
                  <a:srgbClr val="2B343D"/>
                </a:solidFill>
                <a:latin typeface="Consolas"/>
              </a:rPr>
              <a:t>total_cost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 DECIMAL(10,2) DEFAULT 0,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status VARCHAR(20) DEFAULT 'Booked',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FOREIGN KEY (</a:t>
            </a:r>
            <a:r>
              <a:rPr sz="919" b="0" dirty="0" err="1">
                <a:solidFill>
                  <a:srgbClr val="2B343D"/>
                </a:solidFill>
                <a:latin typeface="Consolas"/>
              </a:rPr>
              <a:t>customer_id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) REFERENCES Customers(</a:t>
            </a:r>
            <a:r>
              <a:rPr sz="919" b="0" dirty="0" err="1">
                <a:solidFill>
                  <a:srgbClr val="2B343D"/>
                </a:solidFill>
                <a:latin typeface="Consolas"/>
              </a:rPr>
              <a:t>customer_id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),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  FOREIGN KEY (</a:t>
            </a:r>
            <a:r>
              <a:rPr sz="919" b="0" dirty="0" err="1">
                <a:solidFill>
                  <a:srgbClr val="2B343D"/>
                </a:solidFill>
                <a:latin typeface="Consolas"/>
              </a:rPr>
              <a:t>vehicle_id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) REFERENCES Vehicles(</a:t>
            </a:r>
            <a:r>
              <a:rPr sz="919" b="0" dirty="0" err="1">
                <a:solidFill>
                  <a:srgbClr val="2B343D"/>
                </a:solidFill>
                <a:latin typeface="Consolas"/>
              </a:rPr>
              <a:t>vehicle_id</a:t>
            </a:r>
            <a:r>
              <a:rPr sz="919" b="0" dirty="0">
                <a:solidFill>
                  <a:srgbClr val="2B343D"/>
                </a:solidFill>
                <a:latin typeface="Consolas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919" b="0" dirty="0">
                <a:solidFill>
                  <a:srgbClr val="2B343D"/>
                </a:solidFill>
                <a:latin typeface="Consolas"/>
              </a:rP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7543800"/>
            <a:ext cx="52578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F6B77"/>
                </a:solidFill>
                <a:latin typeface="Arial"/>
              </a:rPr>
              <a:t>Customers and Payments tables use the same primary-key / foreign-key approach.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94100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84848" cy="9601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9098280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162288"/>
            <a:ext cx="55778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F6B77"/>
                </a:solidFill>
                <a:latin typeface="Arial"/>
              </a:rPr>
              <a:t>Car Rental System • DBMS Project                                    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5577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23456"/>
                </a:solidFill>
                <a:latin typeface="Arial"/>
              </a:rPr>
              <a:t>SQL Implementation — Queries &amp;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19656"/>
            <a:ext cx="960120" cy="41148"/>
          </a:xfrm>
          <a:prstGeom prst="rect">
            <a:avLst/>
          </a:prstGeom>
          <a:solidFill>
            <a:srgbClr val="1C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468112" cy="1097280"/>
          </a:xfrm>
          <a:prstGeom prst="roundRect">
            <a:avLst/>
          </a:prstGeom>
          <a:solidFill>
            <a:srgbClr val="F6F8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130552"/>
            <a:ext cx="51663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E689E"/>
                </a:solidFill>
                <a:latin typeface="Arial"/>
              </a:rPr>
              <a:t>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50008"/>
            <a:ext cx="5166360" cy="7680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-- Available vehicles</a:t>
            </a:r>
          </a:p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SELECT * FROM Vehicles</a:t>
            </a:r>
          </a:p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WHERE status = 'Available';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468112" cy="2148840"/>
          </a:xfrm>
          <a:prstGeom prst="roundRect">
            <a:avLst/>
          </a:prstGeom>
          <a:solidFill>
            <a:srgbClr val="F6F8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3410712"/>
            <a:ext cx="51663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E689E"/>
                </a:solidFill>
                <a:latin typeface="Arial"/>
              </a:rPr>
              <a:t>COST 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630168"/>
            <a:ext cx="5166360" cy="1819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-- Calculate rental days and cost</a:t>
            </a:r>
          </a:p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SELECT r.rental_id, v.brand, v.model,</a:t>
            </a:r>
          </a:p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       DATEDIFF(r.expected_return, r.rental_date) AS rental_days,</a:t>
            </a:r>
          </a:p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       v.daily_rate,</a:t>
            </a:r>
          </a:p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       DATEDIFF(r.expected_return, r.rental_date) * v.daily_rate AS calculated_cost</a:t>
            </a:r>
          </a:p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FROM Rentals r</a:t>
            </a:r>
          </a:p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JOIN Vehicles v ON r.vehicle_id = v.vehicle_id;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623560"/>
            <a:ext cx="5468112" cy="1691640"/>
          </a:xfrm>
          <a:prstGeom prst="roundRect">
            <a:avLst/>
          </a:prstGeom>
          <a:solidFill>
            <a:srgbClr val="F6F8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5696712"/>
            <a:ext cx="51663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E689E"/>
                </a:solidFill>
                <a:latin typeface="Arial"/>
              </a:rPr>
              <a:t>JOIN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916168"/>
            <a:ext cx="5166360" cy="1362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-- Join rental, customer and vehicle</a:t>
            </a:r>
          </a:p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SELECT r.rental_id, c.full_name, v.brand, v.model,</a:t>
            </a:r>
          </a:p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       r.total_cost, r.status</a:t>
            </a:r>
          </a:p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FROM Rentals r</a:t>
            </a:r>
          </a:p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JOIN Customers c ON r.customer_id = c.customer_id</a:t>
            </a:r>
          </a:p>
          <a:p>
            <a:pPr algn="l">
              <a:spcAft>
                <a:spcPts val="400"/>
              </a:spcAft>
            </a:pPr>
            <a:r>
              <a:rPr sz="869" b="0">
                <a:solidFill>
                  <a:srgbClr val="2B343D"/>
                </a:solidFill>
                <a:latin typeface="Consolas"/>
              </a:rPr>
              <a:t>JOIN Vehicles v ON r.vehicle_id = v.vehicle_id;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7635240"/>
            <a:ext cx="51206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1C8287"/>
                </a:solidFill>
                <a:latin typeface="Arial"/>
              </a:rPr>
              <a:t>Other examples: COUNT(*), GROUP BY status, DESCRIBE 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94100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84848" cy="9601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9098280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162288"/>
            <a:ext cx="55778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F6B77"/>
                </a:solidFill>
                <a:latin typeface="Arial"/>
              </a:rPr>
              <a:t>Car Rental System • DBMS Project                                    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5577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23456"/>
                </a:solidFill>
                <a:latin typeface="Arial"/>
              </a:rPr>
              <a:t>System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08760"/>
            <a:ext cx="55321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B77"/>
                </a:solidFill>
                <a:latin typeface="Arial"/>
              </a:rPr>
              <a:t>MySQL Workbench execution sequence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19656"/>
            <a:ext cx="960120" cy="41148"/>
          </a:xfrm>
          <a:prstGeom prst="rect">
            <a:avLst/>
          </a:prstGeom>
          <a:solidFill>
            <a:srgbClr val="1C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5303520" cy="86868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286000"/>
            <a:ext cx="43891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C8287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240280"/>
            <a:ext cx="429768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Select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514600"/>
            <a:ext cx="429768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B343D"/>
                </a:solidFill>
                <a:latin typeface="Consolas"/>
              </a:rPr>
              <a:t>USE CarRentalDB;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72968"/>
            <a:ext cx="5303520" cy="86868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310128"/>
            <a:ext cx="43891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C8287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264408"/>
            <a:ext cx="429768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Inspect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538728"/>
            <a:ext cx="429768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B343D"/>
                </a:solidFill>
                <a:latin typeface="Consolas"/>
              </a:rPr>
              <a:t>SHOW TABLES;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97096"/>
            <a:ext cx="5303520" cy="86868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334256"/>
            <a:ext cx="43891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C8287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288536"/>
            <a:ext cx="429768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View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562856"/>
            <a:ext cx="429768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B343D"/>
                </a:solidFill>
                <a:latin typeface="Consolas"/>
              </a:rPr>
              <a:t>SELECT * FROM Vehicles;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21224"/>
            <a:ext cx="5303520" cy="86868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5358384"/>
            <a:ext cx="43891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C8287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5312664"/>
            <a:ext cx="429768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Run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5586984"/>
            <a:ext cx="429768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B343D"/>
                </a:solidFill>
                <a:latin typeface="Consolas"/>
              </a:rPr>
              <a:t>Execute the cost or JOIN query.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446520"/>
            <a:ext cx="5303520" cy="1051560"/>
          </a:xfrm>
          <a:prstGeom prst="roundRect">
            <a:avLst/>
          </a:prstGeom>
          <a:solidFill>
            <a:srgbClr val="FFF9E6"/>
          </a:solidFill>
          <a:ln>
            <a:solidFill>
              <a:srgbClr val="E5D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6583680"/>
            <a:ext cx="493776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B343D"/>
                </a:solidFill>
                <a:latin typeface="Arial"/>
              </a:rPr>
              <a:t>SCREENSHOT PLACEHOLDER</a:t>
            </a:r>
          </a:p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B343D"/>
                </a:solidFill>
                <a:latin typeface="Arial"/>
              </a:rPr>
              <a:t>Insert your actual MySQL Workbench SQL Editor + result screenshot here before presenting.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94100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84848" cy="9601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9098280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162288"/>
            <a:ext cx="55778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F6B77"/>
                </a:solidFill>
                <a:latin typeface="Arial"/>
              </a:rPr>
              <a:t>Car Rental System • DBMS Project                                   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5577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23456"/>
                </a:solidFill>
                <a:latin typeface="Arial"/>
              </a:rPr>
              <a:t>Database Tables &amp; Populated Test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08760"/>
            <a:ext cx="55321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B77"/>
                </a:solidFill>
                <a:latin typeface="Arial"/>
              </a:rPr>
              <a:t>Four tables with sample records in MySQL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19656"/>
            <a:ext cx="960120" cy="41148"/>
          </a:xfrm>
          <a:prstGeom prst="rect">
            <a:avLst/>
          </a:prstGeom>
          <a:solidFill>
            <a:srgbClr val="1C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5303520" cy="82296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150876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E689E"/>
                </a:solidFill>
                <a:latin typeface="Arial"/>
              </a:rPr>
              <a:t>VEHICLES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67128"/>
            <a:ext cx="3429000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B343D"/>
                </a:solidFill>
                <a:latin typeface="Arial"/>
              </a:rPr>
              <a:t>5 sample vehicle records • includes Available and Maintenance statuses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5303520" cy="82296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64408"/>
            <a:ext cx="150876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E689E"/>
                </a:solidFill>
                <a:latin typeface="Arial"/>
              </a:rPr>
              <a:t>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264408"/>
            <a:ext cx="3429000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B343D"/>
                </a:solidFill>
                <a:latin typeface="Arial"/>
              </a:rPr>
              <a:t>5 sample customer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303520" cy="82296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61688"/>
            <a:ext cx="150876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E689E"/>
                </a:solidFill>
                <a:latin typeface="Arial"/>
              </a:rPr>
              <a:t>RENTALS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361688"/>
            <a:ext cx="3429000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B343D"/>
                </a:solidFill>
                <a:latin typeface="Arial"/>
              </a:rPr>
              <a:t>5 rental records • Returned, Active and Booked statuses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49240"/>
            <a:ext cx="5303520" cy="82296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458968"/>
            <a:ext cx="150876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E689E"/>
                </a:solidFill>
                <a:latin typeface="Arial"/>
              </a:rPr>
              <a:t>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5458968"/>
            <a:ext cx="3429000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B343D"/>
                </a:solidFill>
                <a:latin typeface="Arial"/>
              </a:rPr>
              <a:t>5 payment records • Paid and Pending statuses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6492240"/>
            <a:ext cx="5303520" cy="1005840"/>
          </a:xfrm>
          <a:prstGeom prst="roundRect">
            <a:avLst/>
          </a:prstGeom>
          <a:solidFill>
            <a:srgbClr val="FFF9E6"/>
          </a:solidFill>
          <a:ln>
            <a:solidFill>
              <a:srgbClr val="E5D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629400"/>
            <a:ext cx="493776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B343D"/>
                </a:solidFill>
                <a:latin typeface="Arial"/>
              </a:rPr>
              <a:t>SCREENSHOT PLACEHOLDER</a:t>
            </a:r>
          </a:p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B343D"/>
                </a:solidFill>
                <a:latin typeface="Arial"/>
              </a:rPr>
              <a:t>Insert actual result grids for Vehicles / Rentals / Payments.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94100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84848" cy="9601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9098280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162288"/>
            <a:ext cx="55778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F6B77"/>
                </a:solidFill>
                <a:latin typeface="Arial"/>
              </a:rPr>
              <a:t>Car Rental System • DBMS Project                                    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55778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23456"/>
                </a:solidFill>
                <a:latin typeface="Arial"/>
              </a:rP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08760"/>
            <a:ext cx="55321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F6B77"/>
                </a:solidFill>
                <a:latin typeface="Arial"/>
              </a:rPr>
              <a:t>Summary of the implemented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19656"/>
            <a:ext cx="960120" cy="41148"/>
          </a:xfrm>
          <a:prstGeom prst="rect">
            <a:avLst/>
          </a:prstGeom>
          <a:solidFill>
            <a:srgbClr val="1C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2057400"/>
            <a:ext cx="5532120" cy="2331720"/>
          </a:xfrm>
          <a:prstGeom prst="roundRect">
            <a:avLst/>
          </a:prstGeom>
          <a:solidFill>
            <a:srgbClr val="EBF3F9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167128"/>
            <a:ext cx="521208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50592"/>
            <a:ext cx="5193792" cy="18745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Created the CarRentalDB database and four related tables.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Added sample records for vehicles, customers, rentals and payments.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Verified table retrieval, availability filtering and rental-cost calculations.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Demonstrated relationships through JOIN queries.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4617720"/>
            <a:ext cx="5532120" cy="2148840"/>
          </a:xfrm>
          <a:prstGeom prst="roundRect">
            <a:avLst/>
          </a:prstGeom>
          <a:solidFill>
            <a:srgbClr val="EBF3F9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4727448"/>
            <a:ext cx="521208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689E"/>
                </a:solidFill>
                <a:latin typeface="Arial"/>
              </a:rP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010912"/>
            <a:ext cx="5193792" cy="1691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Add CHECK constraints and stricter status validation.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Prevent overlapping active bookings for the same vehicle.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Calculate late-return charges and outstanding balances.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• Add a user interface, login, receipts, reporting dashboard and backups.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7178040"/>
            <a:ext cx="516636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C8287"/>
                </a:solidFill>
                <a:latin typeface="Arial"/>
              </a:rPr>
              <a:t>The current scope is a database-first implementation using MySQL.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94100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84848" cy="9601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9098280"/>
            <a:ext cx="60350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162288"/>
            <a:ext cx="55778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F6B77"/>
                </a:solidFill>
                <a:latin typeface="Arial"/>
              </a:rPr>
              <a:t>Car Rental System • DBMS Project                                    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19656"/>
            <a:ext cx="960120" cy="41148"/>
          </a:xfrm>
          <a:prstGeom prst="rect">
            <a:avLst/>
          </a:prstGeom>
          <a:solidFill>
            <a:srgbClr val="1C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5166360" cy="2194560"/>
          </a:xfrm>
          <a:prstGeom prst="roundRect">
            <a:avLst/>
          </a:prstGeom>
          <a:solidFill>
            <a:srgbClr val="EFF7FA"/>
          </a:solidFill>
          <a:ln>
            <a:solidFill>
              <a:srgbClr val="CF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470916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C8287"/>
                </a:solidFill>
                <a:latin typeface="Arial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470916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23456"/>
                </a:solidFill>
                <a:latin typeface="Arial"/>
              </a:rPr>
              <a:t>Car Rental System — DBMS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166360"/>
            <a:ext cx="475488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AD Patel Institute of Technology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2B343D"/>
                </a:solidFill>
                <a:latin typeface="Arial"/>
              </a:rPr>
              <a:t>Department of Information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1398</Words>
  <Application>Microsoft Office PowerPoint</Application>
  <PresentationFormat>Custom</PresentationFormat>
  <Paragraphs>196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KAVYA PARMAR</cp:lastModifiedBy>
  <cp:revision>3</cp:revision>
  <dcterms:created xsi:type="dcterms:W3CDTF">2013-01-27T09:14:16Z</dcterms:created>
  <dcterms:modified xsi:type="dcterms:W3CDTF">2026-10-27T04:56:26Z</dcterms:modified>
  <cp:category/>
</cp:coreProperties>
</file>